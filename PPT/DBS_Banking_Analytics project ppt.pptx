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BCBFE-839B-4E1F-9FCD-5B63397793CC}" v="2" dt="2026-07-11T05:29:17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924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793EA-9E06-7352-B4F4-A86B7EF0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AF416-5CEC-3A74-4B06-FADD4BB5A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298C8-55F4-45B6-327B-FE1BA5BFB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4CA0F-C631-5179-818D-931B421FD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58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2A347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63070"/>
          </a:solidFill>
          <a:ln/>
        </p:spPr>
        <p:txBody>
          <a:bodyPr/>
          <a:lstStyle/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Created By –Zeeshan Momin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 BANKING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Loan, Customer &amp; Transaction Intelligence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280160" cy="41148"/>
          </a:xfrm>
          <a:prstGeom prst="rect">
            <a:avLst/>
          </a:prstGeom>
          <a:solidFill>
            <a:srgbClr val="3E4A9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Zeeshan Gausoddin Momin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Gowthu Surya Sai Uday Kalyan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Shivaji Wagh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Arunprasad Rajesh Kounder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 Raikwar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Submission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A2462B-F105-609B-451B-B5930F0E3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971" y="-177165"/>
            <a:ext cx="2257812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" y="1819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" y="1819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78024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26060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47802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264408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" y="33924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26440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050792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" y="4178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05079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837176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9651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83717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(Loan + Debit/Credit)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1691640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91656" y="1819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656" y="1819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169164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2478024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391656" y="26060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391656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247802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3264408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6391656" y="33924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391656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326440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/ Observations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4050792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37" name="Shape 35"/>
          <p:cNvSpPr/>
          <p:nvPr/>
        </p:nvSpPr>
        <p:spPr>
          <a:xfrm>
            <a:off x="6391656" y="4178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656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405079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63640" y="4837176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41" name="Shape 39"/>
          <p:cNvSpPr/>
          <p:nvPr/>
        </p:nvSpPr>
        <p:spPr>
          <a:xfrm>
            <a:off x="6391656" y="49651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6391656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483717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banking analytics built across four platforms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banking loan performance, customer activity, and debit-credit transactions.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743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90" y="29571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94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KPIs + 2 dashboards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02152" y="2377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3692" y="2743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2" y="29571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3794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85032" y="42062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 + KPI queries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64224" y="2377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55764" y="2743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icons/tablea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34" y="295717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4224" y="3794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47104" y="42062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&amp; Customer dashboard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226296" y="2377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117836" y="2743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icons/power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1806" y="295717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6296" y="3794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409176" y="42062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&amp; Credit dashboard using SQL data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require a unified analytics system to track: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6" name="Image 0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disbursement trends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640080" cy="64008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9" name="Image 1" descr="/home/claude/icons/custo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61" y="1949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6916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activity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12" name="Image 2" descr="/home/claude/icons/transa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31839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9260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vs Debit behavior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63640" y="3017520"/>
            <a:ext cx="640080" cy="64008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15" name="Image 3" descr="/home/claude/icons/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1" y="3183941"/>
            <a:ext cx="307238" cy="3072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86600" y="29260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performance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4251960"/>
            <a:ext cx="640080" cy="64008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18" name="Image 4" descr="/home/claude/icons/ri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1" y="4418381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416052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&amp; suspicious transactions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263640" y="4251960"/>
            <a:ext cx="640080" cy="64008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21" name="Image 5" descr="/home/claude/icons/produ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061" y="4418381"/>
            <a:ext cx="307238" cy="30723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86600" y="416052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Product-wise loan distribution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8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371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754880" y="13716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creation + dashboards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5146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105156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981" y="28639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54880" y="25146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 + SQL KPI queries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" y="36576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1051560" y="3840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icons/powerb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981" y="40069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3657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754880" y="36576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Debit/Credit dashboard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22960" y="48006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1051560" y="4983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icons/tablea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981" y="51499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20240" y="4800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4754880" y="48006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dashboard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Power Query used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2000+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8288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data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06240" y="242316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data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06240" y="301752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9244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182880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92440" y="242316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details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92440" y="301752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details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92440" y="361188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92440" y="420624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92440" y="480060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— Loan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875520" y="502920"/>
            <a:ext cx="17373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5956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53712" y="15956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02752" y="15956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0" y="12344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27843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7843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4231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Amount Disbursed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53712" y="27843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27843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4231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 Amount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27843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27843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24231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Loan Size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3611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" y="39730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39730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36118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Growth %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0" y="3611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553712" y="39730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53712" y="39730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6118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Repayments Collected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38160" y="3611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37" name="Shape 35"/>
          <p:cNvSpPr/>
          <p:nvPr/>
        </p:nvSpPr>
        <p:spPr>
          <a:xfrm>
            <a:off x="8302752" y="39730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302752" y="39730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78240" y="36118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Recovery Rate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48006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1" name="Shape 39"/>
          <p:cNvSpPr/>
          <p:nvPr/>
        </p:nvSpPr>
        <p:spPr>
          <a:xfrm>
            <a:off x="804672" y="51617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" y="5161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80160" y="4800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389120" y="48006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5" name="Shape 43"/>
          <p:cNvSpPr/>
          <p:nvPr/>
        </p:nvSpPr>
        <p:spPr>
          <a:xfrm>
            <a:off x="4553712" y="51617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553712" y="5161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0" y="4800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Distribution by Branch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138160" y="48006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9" name="Shape 47"/>
          <p:cNvSpPr/>
          <p:nvPr/>
        </p:nvSpPr>
        <p:spPr>
          <a:xfrm>
            <a:off x="8302752" y="51617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8302752" y="5161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78240" y="4800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Product-wise Loan Volume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— Debit &amp; Credit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875520" y="502920"/>
            <a:ext cx="17373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5956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 Amount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53712" y="15956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Debit Amount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02752" y="15956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0" y="12344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to Debit Ratio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27843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7843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4231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Transaction Amount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53712" y="27843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27843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4231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Activity Ratio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24231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27843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27843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24231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per Day/Week/Month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611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" y="39730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39730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36118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Amount by Branch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0" y="3611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553712" y="39730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53712" y="39730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6118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by Bank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3611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37" name="Shape 35"/>
          <p:cNvSpPr/>
          <p:nvPr/>
        </p:nvSpPr>
        <p:spPr>
          <a:xfrm>
            <a:off x="8302752" y="39730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302752" y="39730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78240" y="36118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Method Distribution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8006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1" name="Shape 39"/>
          <p:cNvSpPr/>
          <p:nvPr/>
        </p:nvSpPr>
        <p:spPr>
          <a:xfrm>
            <a:off x="804672" y="51617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" y="5161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80160" y="4800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Transaction Growth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89120" y="48006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5" name="Shape 43"/>
          <p:cNvSpPr/>
          <p:nvPr/>
        </p:nvSpPr>
        <p:spPr>
          <a:xfrm>
            <a:off x="4553712" y="51617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553712" y="5161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0" y="4800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Transaction Flag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138160" y="48006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9" name="Shape 47"/>
          <p:cNvSpPr/>
          <p:nvPr/>
        </p:nvSpPr>
        <p:spPr>
          <a:xfrm>
            <a:off x="8302752" y="51617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8302752" y="5161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78240" y="4800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Transaction Frequency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14984" y="1938528"/>
            <a:ext cx="0" cy="393192"/>
          </a:xfrm>
          <a:prstGeom prst="line">
            <a:avLst/>
          </a:prstGeom>
          <a:noFill/>
          <a:ln w="25400">
            <a:solidFill>
              <a:srgbClr val="3E4A9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55448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62763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all 24 KPIs using Excel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4984" y="2898648"/>
            <a:ext cx="0" cy="393192"/>
          </a:xfrm>
          <a:prstGeom prst="line">
            <a:avLst/>
          </a:prstGeom>
          <a:noFill/>
          <a:ln w="25400">
            <a:solidFill>
              <a:srgbClr val="3E4A9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554480" y="2313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25877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 Excel dashboards Using Pivot (Loan KPIs + Debit/Credit KPIs)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14984" y="3858768"/>
            <a:ext cx="0" cy="393192"/>
          </a:xfrm>
          <a:prstGeom prst="line">
            <a:avLst/>
          </a:prstGeom>
          <a:noFill/>
          <a:ln w="25400">
            <a:solidFill>
              <a:srgbClr val="3E4A9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554480" y="3273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5478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SQL queries for all KPIs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14984" y="4818888"/>
            <a:ext cx="0" cy="393192"/>
          </a:xfrm>
          <a:prstGeom prst="line">
            <a:avLst/>
          </a:prstGeom>
          <a:noFill/>
          <a:ln w="25400">
            <a:solidFill>
              <a:srgbClr val="3E4A9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554480" y="4233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4507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data into Tableau → Built Loan Dashboard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212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5193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54681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SQL data into Power BI → Built Debit &amp; Credit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 (Loan KPIs)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 w="19050">
            <a:solidFill>
              <a:srgbClr val="C4CBEA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9FA9DE-3FFD-B308-EDD9-F7538AD42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712"/>
            <a:ext cx="10911840" cy="53402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 (Debit/Credit KPIs)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 w="19050">
            <a:solidFill>
              <a:srgbClr val="C4CBE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C7A27F-8813-4690-C90F-7C803AAFE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11" y="1060704"/>
            <a:ext cx="11136429" cy="54772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 w="19050">
            <a:solidFill>
              <a:srgbClr val="C4CBE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7C086B-C84B-3089-D23C-B8FC76BD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1060704"/>
            <a:ext cx="11285621" cy="54772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 w="19050">
            <a:solidFill>
              <a:srgbClr val="C4CBE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F8651E-3FAD-FBAA-2D63-93E9CA3EA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26" y="1060704"/>
            <a:ext cx="11168514" cy="54772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5257800"/>
          </a:xfrm>
          <a:prstGeom prst="roundRect">
            <a:avLst>
              <a:gd name="adj" fmla="val 1391"/>
            </a:avLst>
          </a:prstGeom>
          <a:solidFill>
            <a:srgbClr val="12142B"/>
          </a:solidFill>
          <a:ln w="12700">
            <a:solidFill>
              <a:srgbClr val="343A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2416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C27415-0185-F8CD-63E1-868864FFB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7" r="50000" b="22666"/>
          <a:stretch>
            <a:fillRect/>
          </a:stretch>
        </p:blipFill>
        <p:spPr>
          <a:xfrm>
            <a:off x="640080" y="1051560"/>
            <a:ext cx="3657600" cy="5257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40F318-F508-FE9A-6F7B-B6C7F756CC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444" b="24444"/>
          <a:stretch>
            <a:fillRect/>
          </a:stretch>
        </p:blipFill>
        <p:spPr>
          <a:xfrm>
            <a:off x="4417997" y="1051560"/>
            <a:ext cx="3657600" cy="525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C65D16-718D-BE45-B5B5-05EE4B2F7D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55517" b="22340"/>
          <a:stretch>
            <a:fillRect/>
          </a:stretch>
        </p:blipFill>
        <p:spPr>
          <a:xfrm>
            <a:off x="8195914" y="1051560"/>
            <a:ext cx="3657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5231A-0EF1-B8DA-25BE-E9010069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491396-C098-17A2-0D9E-B61ED6634247}"/>
              </a:ext>
            </a:extLst>
          </p:cNvPr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</a:t>
            </a: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7105C0-7900-2DEA-028D-80C60E647276}"/>
              </a:ext>
            </a:extLst>
          </p:cNvPr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3D834E-6FA8-87A2-06DA-6DD7D6AAE54C}"/>
              </a:ext>
            </a:extLst>
          </p:cNvPr>
          <p:cNvSpPr/>
          <p:nvPr/>
        </p:nvSpPr>
        <p:spPr>
          <a:xfrm>
            <a:off x="640080" y="1051560"/>
            <a:ext cx="10881360" cy="5257800"/>
          </a:xfrm>
          <a:prstGeom prst="roundRect">
            <a:avLst>
              <a:gd name="adj" fmla="val 1391"/>
            </a:avLst>
          </a:prstGeom>
          <a:solidFill>
            <a:srgbClr val="12142B"/>
          </a:solidFill>
          <a:ln w="12700">
            <a:solidFill>
              <a:srgbClr val="343A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8B02E4-6EA5-9EEA-3D67-2440B8CA9AEC}"/>
              </a:ext>
            </a:extLst>
          </p:cNvPr>
          <p:cNvSpPr/>
          <p:nvPr/>
        </p:nvSpPr>
        <p:spPr>
          <a:xfrm>
            <a:off x="868680" y="1234440"/>
            <a:ext cx="1042416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E2A742-513F-1F16-4769-57E0D3166223}"/>
              </a:ext>
            </a:extLst>
          </p:cNvPr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F187BBA-8873-97B0-C9CC-449D6961D124}"/>
              </a:ext>
            </a:extLst>
          </p:cNvPr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9482F3-295C-4B30-88EC-4F595FF43E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472" b="20117"/>
          <a:stretch>
            <a:fillRect/>
          </a:stretch>
        </p:blipFill>
        <p:spPr>
          <a:xfrm>
            <a:off x="670560" y="1051561"/>
            <a:ext cx="3821229" cy="5257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225274-DB43-43BC-3EAF-2BEB498632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561" b="22456"/>
          <a:stretch>
            <a:fillRect/>
          </a:stretch>
        </p:blipFill>
        <p:spPr>
          <a:xfrm>
            <a:off x="4608897" y="1051558"/>
            <a:ext cx="3684871" cy="5257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EB8F7F-13E2-0235-DF17-289F83C09D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7153" b="23333"/>
          <a:stretch>
            <a:fillRect/>
          </a:stretch>
        </p:blipFill>
        <p:spPr>
          <a:xfrm>
            <a:off x="8410876" y="1051561"/>
            <a:ext cx="3567764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28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/ Observations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602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9266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3716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transactions are higher than debit transactions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0" y="17602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19266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3716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 contribute most of the loan amount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68680" y="34061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35725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01752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loans dominate the portfolio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72200" y="30175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0" y="34061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357256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301752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performance varies month-to-month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40080" y="46634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68680" y="50520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icons/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521848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91640" y="466344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transactions detected above ₹50,000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172200" y="46634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00800" y="50520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/home/claude/icons/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5218481"/>
            <a:ext cx="307238" cy="30723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23760" y="466344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transaction frequency helps fraud monitoring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BEAE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71600"/>
            <a:ext cx="44348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E8F3EC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37160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using SQL cleaning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42432" y="1371600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706624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BEAE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706624"/>
            <a:ext cx="44348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706624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E8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706624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using Excel + SQL COALESCE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42432" y="2706624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" y="4041648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B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41648"/>
            <a:ext cx="44348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alignment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4041648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E8F3EC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041648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Tableau containers + Power BI grid layout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42432" y="4041648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5376672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B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376672"/>
            <a:ext cx="44348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formatting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5376672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E8F3EC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5376672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custom number formatting (Millions, %, Ratios)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42432" y="5376672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029200" cy="502920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3E4A9E"/>
          </a:solidFill>
          <a:ln/>
        </p:spPr>
      </p:sp>
      <p:pic>
        <p:nvPicPr>
          <p:cNvPr id="5" name="Image 0" descr="/home/claude/icons/con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964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685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8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06288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2880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complete banking analytics dashboards using Excel-PIVOT, SQL, Power BI, and Tableau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11" name="Image 2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311444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88036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24 KPIs across Loan, Customer, Branch, and Transaction domains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14" name="Image 3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16600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393192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skills in SQL, data modeling, dashboard design, and fraud detection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17" name="Image 4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5217566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00200" y="49834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real-time project experience in end-to-end analytics workflow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Banking Analytics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644</Words>
  <Application>Microsoft Office PowerPoint</Application>
  <PresentationFormat>Widescreen</PresentationFormat>
  <Paragraphs>243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Zeeshan Momin</cp:lastModifiedBy>
  <cp:revision>4</cp:revision>
  <dcterms:created xsi:type="dcterms:W3CDTF">2026-07-10T18:04:50Z</dcterms:created>
  <dcterms:modified xsi:type="dcterms:W3CDTF">2026-07-11T06:08:22Z</dcterms:modified>
</cp:coreProperties>
</file>